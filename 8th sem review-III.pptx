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9" r:id="rId17"/>
    <p:sldId id="280" r:id="rId18"/>
    <p:sldId id="288" r:id="rId19"/>
    <p:sldId id="289" r:id="rId20"/>
    <p:sldId id="290" r:id="rId21"/>
    <p:sldId id="281" r:id="rId22"/>
    <p:sldId id="282" r:id="rId23"/>
    <p:sldId id="283" r:id="rId24"/>
    <p:sldId id="284" r:id="rId25"/>
    <p:sldId id="277" r:id="rId26"/>
    <p:sldId id="285" r:id="rId27"/>
    <p:sldId id="286" r:id="rId28"/>
    <p:sldId id="287" r:id="rId29"/>
    <p:sldId id="266" r:id="rId30"/>
    <p:sldId id="267" r:id="rId31"/>
    <p:sldId id="268" r:id="rId32"/>
    <p:sldId id="26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6EF2B3-9D77-99E2-0AA4-4A983912A27E}" v="163" dt="2026-02-27T15:24:42.8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ctr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 custT="1"/>
      <dgm:spPr/>
      <dgm:t>
        <a:bodyPr/>
        <a:lstStyle/>
        <a:p>
          <a:r>
            <a:rPr lang="en-US" sz="1400" b="1" dirty="0">
              <a:latin typeface="Times New Roman"/>
              <a:cs typeface="Times New Roman"/>
            </a:rPr>
            <a:t>Integrating all Advanced Analytics tools to the environments.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pPr rtl="0"/>
          <a:r>
            <a:rPr lang="en-US" dirty="0">
              <a:latin typeface="Times New Roman"/>
              <a:cs typeface="Times New Roman"/>
            </a:rPr>
            <a:t>Review </a:t>
          </a:r>
          <a:r>
            <a:rPr lang="en-US" sz="1800" dirty="0">
              <a:latin typeface="Times New Roman"/>
              <a:cs typeface="Times New Roman"/>
            </a:rPr>
            <a:t>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F33305E-CF2F-48D1-AC83-691A1E2D27DD}">
      <dgm:prSet phldr="0"/>
      <dgm:spPr/>
      <dgm:t>
        <a:bodyPr/>
        <a:lstStyle/>
        <a:p>
          <a:r>
            <a:rPr lang="en-US" sz="1800" dirty="0">
              <a:latin typeface="Calibri Light" panose="020F0302020204030204"/>
            </a:rPr>
            <a:t>Involved</a:t>
          </a:r>
          <a:r>
            <a:rPr lang="en-US" sz="1800" dirty="0"/>
            <a:t> data modeling, DAX KPI creation, interactive dashboard development, slicers, drill-through analysis, and recruitment performance insights generation</a:t>
          </a:r>
          <a:endParaRPr lang="en-US" dirty="0"/>
        </a:p>
      </dgm:t>
    </dgm:pt>
    <dgm:pt modelId="{A3431957-0A27-4ECB-B821-5482F199B23D}" type="parTrans" cxnId="{7827E032-78FB-4F34-8635-FAC9BE0553D1}">
      <dgm:prSet/>
      <dgm:spPr/>
    </dgm:pt>
    <dgm:pt modelId="{7A68C453-85B9-4EED-9C35-E3856B6F2993}" type="sibTrans" cxnId="{7827E032-78FB-4F34-8635-FAC9BE0553D1}">
      <dgm:prSet/>
      <dgm:spPr/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FEC761BF-F81A-4375-88E0-8425B8BCDF44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FF875D3E-0F12-4104-9A7C-CE04F98BA873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E120337-935D-42DE-A69F-C98BBEA52191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54FF4E05-55EC-446D-9FA5-4657F2BA1AB8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B899A591-8D17-49B4-9C69-D2067C176EAC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67E37EA-830C-41AB-B940-0E4B11238E57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D4F6D0A-0EA7-4E73-B446-8E5EEA2F74D3}" type="presOf" srcId="{7B3055AA-BF7C-46D0-9A9E-60087B9F57B4}" destId="{00BB3360-A9BB-4051-A4B1-1216F82F642C}" srcOrd="0" destOrd="0" presId="urn:microsoft.com/office/officeart/2011/layout/InterconnectedBlockProcess"/>
    <dgm:cxn modelId="{91E40812-FF32-42E4-93E0-9CBB15A7AA9D}" type="presOf" srcId="{AF33305E-CF2F-48D1-AC83-691A1E2D27DD}" destId="{2532504F-5FE1-4C97-B485-F05E8885EACC}" srcOrd="1" destOrd="0" presId="urn:microsoft.com/office/officeart/2011/layout/InterconnectedBlockProcess"/>
    <dgm:cxn modelId="{8BD42123-7200-480C-91E7-4D2917D483AA}" type="presOf" srcId="{988D96B0-D16E-4763-B393-84178CF4FF50}" destId="{65257024-FAC0-4522-B139-1CC85B547BE8}" srcOrd="0" destOrd="0" presId="urn:microsoft.com/office/officeart/2011/layout/InterconnectedBlockProcess"/>
    <dgm:cxn modelId="{AB535926-F7C3-41CB-A740-C0DC79DC2F6D}" type="presOf" srcId="{5E92505A-51E0-4F78-B3C5-704ACF8710DE}" destId="{367E37EA-830C-41AB-B940-0E4B11238E57}" srcOrd="0" destOrd="0" presId="urn:microsoft.com/office/officeart/2011/layout/InterconnectedBlockProcess"/>
    <dgm:cxn modelId="{7827E032-78FB-4F34-8635-FAC9BE0553D1}" srcId="{A59EC69B-8F3F-425B-819F-E8C557946AEE}" destId="{AF33305E-CF2F-48D1-AC83-691A1E2D27DD}" srcOrd="0" destOrd="0" parTransId="{A3431957-0A27-4ECB-B821-5482F199B23D}" sibTransId="{7A68C453-85B9-4EED-9C35-E3856B6F2993}"/>
    <dgm:cxn modelId="{2175D34C-D078-47D1-B72E-19D3E5E59868}" type="presOf" srcId="{A59EC69B-8F3F-425B-819F-E8C557946AEE}" destId="{4C66D42D-7E6D-4563-AFDC-369C30B73F70}" srcOrd="0" destOrd="0" presId="urn:microsoft.com/office/officeart/2011/layout/InterconnectedBlockProcess"/>
    <dgm:cxn modelId="{37D4776E-EFD7-45D4-932E-D1EEC2F7FE5D}" type="presOf" srcId="{65C051F6-A849-4495-A964-CD4C650B9C06}" destId="{EE120337-935D-42DE-A69F-C98BBEA52191}" srcOrd="0" destOrd="0" presId="urn:microsoft.com/office/officeart/2011/layout/InterconnectedBlockProcess"/>
    <dgm:cxn modelId="{2430BA52-5E8C-447D-B6CA-26123E8DF88E}" type="presOf" srcId="{9FED87C4-3F3B-4A18-9185-9F80CFEDEA2E}" destId="{6BCCFBA6-7A43-4631-AD7F-AFB10E1E6CD7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E5A18796-8F02-450E-B3E0-F1060FA51939}" type="presOf" srcId="{9FED87C4-3F3B-4A18-9185-9F80CFEDEA2E}" destId="{06F8D57B-EDF4-4CF4-8700-DC2CA3E3028E}" srcOrd="1" destOrd="0" presId="urn:microsoft.com/office/officeart/2011/layout/InterconnectedBlockProcess"/>
    <dgm:cxn modelId="{BB1C25A8-E189-4A2F-856E-5DD40B6CB164}" type="presOf" srcId="{D471E45F-B026-44AA-9616-57E786AE80AF}" destId="{A134CDD1-D85F-44EF-8BEE-9F99A855C1E6}" srcOrd="1" destOrd="0" presId="urn:microsoft.com/office/officeart/2011/layout/InterconnectedBlockProcess"/>
    <dgm:cxn modelId="{077DF6AC-695D-4010-99DC-20BB2BB62130}" type="presOf" srcId="{D471E45F-B026-44AA-9616-57E786AE80AF}" destId="{1C91D7E3-8940-4A33-9182-677DD5415901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390959BE-AEC4-4531-9863-AF65C9746753}" type="presOf" srcId="{AF33305E-CF2F-48D1-AC83-691A1E2D27DD}" destId="{0D08ED52-6744-4369-B780-916B09984775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2CB240E2-6FAB-48FB-A88A-DF5200B0384D}" type="presParOf" srcId="{A6BCDA7B-D633-438F-B44D-CB4D60E5C492}" destId="{FEC761BF-F81A-4375-88E0-8425B8BCDF44}" srcOrd="0" destOrd="0" presId="urn:microsoft.com/office/officeart/2011/layout/InterconnectedBlockProcess"/>
    <dgm:cxn modelId="{57F98C8E-161B-48C4-8E96-2A99605F696D}" type="presParOf" srcId="{FEC761BF-F81A-4375-88E0-8425B8BCDF44}" destId="{8CAE5A4D-0C7B-48A6-917B-0B8433D0574B}" srcOrd="0" destOrd="0" presId="urn:microsoft.com/office/officeart/2011/layout/InterconnectedBlockProcess"/>
    <dgm:cxn modelId="{75962F11-844A-438D-A7A7-BC811B0D5B35}" type="presParOf" srcId="{A6BCDA7B-D633-438F-B44D-CB4D60E5C492}" destId="{FF875D3E-0F12-4104-9A7C-CE04F98BA873}" srcOrd="1" destOrd="0" presId="urn:microsoft.com/office/officeart/2011/layout/InterconnectedBlockProcess"/>
    <dgm:cxn modelId="{0A7E2F5D-1F33-44EB-81A2-54B190C0DE62}" type="presParOf" srcId="{A6BCDA7B-D633-438F-B44D-CB4D60E5C492}" destId="{EE120337-935D-42DE-A69F-C98BBEA52191}" srcOrd="2" destOrd="0" presId="urn:microsoft.com/office/officeart/2011/layout/InterconnectedBlockProcess"/>
    <dgm:cxn modelId="{785015AE-6D96-4CC6-BD0D-D0F61C80AF6F}" type="presParOf" srcId="{A6BCDA7B-D633-438F-B44D-CB4D60E5C492}" destId="{54FF4E05-55EC-446D-9FA5-4657F2BA1AB8}" srcOrd="3" destOrd="0" presId="urn:microsoft.com/office/officeart/2011/layout/InterconnectedBlockProcess"/>
    <dgm:cxn modelId="{F4EA2C1E-9A3D-44FB-8449-E40308C1609B}" type="presParOf" srcId="{54FF4E05-55EC-446D-9FA5-4657F2BA1AB8}" destId="{FC0F1314-3294-4A8C-8DCE-EB53E236164C}" srcOrd="0" destOrd="0" presId="urn:microsoft.com/office/officeart/2011/layout/InterconnectedBlockProcess"/>
    <dgm:cxn modelId="{BE7EA41E-5F93-4C5A-866F-7D5CDCAAB712}" type="presParOf" srcId="{A6BCDA7B-D633-438F-B44D-CB4D60E5C492}" destId="{B899A591-8D17-49B4-9C69-D2067C176EAC}" srcOrd="4" destOrd="0" presId="urn:microsoft.com/office/officeart/2011/layout/InterconnectedBlockProcess"/>
    <dgm:cxn modelId="{0ADC869A-6775-4FF2-B22A-18318EC637A2}" type="presParOf" srcId="{A6BCDA7B-D633-438F-B44D-CB4D60E5C492}" destId="{367E37EA-830C-41AB-B940-0E4B11238E57}" srcOrd="5" destOrd="0" presId="urn:microsoft.com/office/officeart/2011/layout/InterconnectedBlockProcess"/>
    <dgm:cxn modelId="{C7D70E0B-FD9A-4C53-9A22-A98EEECC6817}" type="presParOf" srcId="{A6BCDA7B-D633-438F-B44D-CB4D60E5C492}" destId="{96AFCF47-32CA-4C44-9E3C-782007B7112E}" srcOrd="6" destOrd="0" presId="urn:microsoft.com/office/officeart/2011/layout/InterconnectedBlockProcess"/>
    <dgm:cxn modelId="{7E413F87-EA72-41AB-ADBF-FF63A5F2454A}" type="presParOf" srcId="{96AFCF47-32CA-4C44-9E3C-782007B7112E}" destId="{2532504F-5FE1-4C97-B485-F05E8885EACC}" srcOrd="0" destOrd="0" presId="urn:microsoft.com/office/officeart/2011/layout/InterconnectedBlockProcess"/>
    <dgm:cxn modelId="{650C848C-5741-45BE-95C6-DFB500B3BD76}" type="presParOf" srcId="{A6BCDA7B-D633-438F-B44D-CB4D60E5C492}" destId="{0D08ED52-6744-4369-B780-916B09984775}" srcOrd="7" destOrd="0" presId="urn:microsoft.com/office/officeart/2011/layout/InterconnectedBlockProcess"/>
    <dgm:cxn modelId="{F4F05F11-DABD-4B26-BE2D-81B34F51039C}" type="presParOf" srcId="{A6BCDA7B-D633-438F-B44D-CB4D60E5C492}" destId="{4C66D42D-7E6D-4563-AFDC-369C30B73F70}" srcOrd="8" destOrd="0" presId="urn:microsoft.com/office/officeart/2011/layout/InterconnectedBlockProcess"/>
    <dgm:cxn modelId="{D39ED704-09A6-46EB-B853-1AE2879F0632}" type="presParOf" srcId="{A6BCDA7B-D633-438F-B44D-CB4D60E5C492}" destId="{C1269CE6-C767-48CC-AAFD-A238D1FFDABA}" srcOrd="9" destOrd="0" presId="urn:microsoft.com/office/officeart/2011/layout/InterconnectedBlockProcess"/>
    <dgm:cxn modelId="{3EEE6E43-BFE8-4360-BB2D-04F22637C218}" type="presParOf" srcId="{C1269CE6-C767-48CC-AAFD-A238D1FFDABA}" destId="{06F8D57B-EDF4-4CF4-8700-DC2CA3E3028E}" srcOrd="0" destOrd="0" presId="urn:microsoft.com/office/officeart/2011/layout/InterconnectedBlockProcess"/>
    <dgm:cxn modelId="{BFD9F312-28E4-4B8C-90C4-066C2BFA8E68}" type="presParOf" srcId="{A6BCDA7B-D633-438F-B44D-CB4D60E5C492}" destId="{6BCCFBA6-7A43-4631-AD7F-AFB10E1E6CD7}" srcOrd="10" destOrd="0" presId="urn:microsoft.com/office/officeart/2011/layout/InterconnectedBlockProcess"/>
    <dgm:cxn modelId="{713C8FC5-5A0E-44BD-8F46-6FEC2D87B14D}" type="presParOf" srcId="{A6BCDA7B-D633-438F-B44D-CB4D60E5C492}" destId="{00BB3360-A9BB-4051-A4B1-1216F82F642C}" srcOrd="11" destOrd="0" presId="urn:microsoft.com/office/officeart/2011/layout/InterconnectedBlockProcess"/>
    <dgm:cxn modelId="{C2D6DC04-AC19-458E-B56C-BF14068BC051}" type="presParOf" srcId="{A6BCDA7B-D633-438F-B44D-CB4D60E5C492}" destId="{7305DF14-0FF5-45E4-8B19-015814092DBD}" srcOrd="12" destOrd="0" presId="urn:microsoft.com/office/officeart/2011/layout/InterconnectedBlockProcess"/>
    <dgm:cxn modelId="{5080F000-955F-4DCF-9EA3-2F56BD01DF6C}" type="presParOf" srcId="{7305DF14-0FF5-45E4-8B19-015814092DBD}" destId="{A134CDD1-D85F-44EF-8BEE-9F99A855C1E6}" srcOrd="0" destOrd="0" presId="urn:microsoft.com/office/officeart/2011/layout/InterconnectedBlockProcess"/>
    <dgm:cxn modelId="{06FFF5D5-C167-4FF9-99FE-280C29A2C8EE}" type="presParOf" srcId="{A6BCDA7B-D633-438F-B44D-CB4D60E5C492}" destId="{1C91D7E3-8940-4A33-9182-677DD5415901}" srcOrd="13" destOrd="0" presId="urn:microsoft.com/office/officeart/2011/layout/InterconnectedBlockProcess"/>
    <dgm:cxn modelId="{E149F450-CA3A-421F-A195-AA89A54D8AE2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20337-935D-42DE-A69F-C98BBEA52191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E37EA-830C-41AB-B940-0E4B11238E57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 Light" panose="020F0302020204030204"/>
            </a:rPr>
            <a:t>Involved</a:t>
          </a:r>
          <a:r>
            <a:rPr lang="en-US" sz="1400" kern="1200" dirty="0"/>
            <a:t> data modeling, DAX KPI creation, interactive dashboard development, slicers, drill-through analysis, and recruitment performance insights generation</a:t>
          </a: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/>
              <a:cs typeface="Times New Roman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/>
              <a:cs typeface="Times New Roman"/>
            </a:rPr>
            <a:t>Integrating all Advanced Analytics tools to the environments.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27/02/2026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nn-2004/Internship-Work-Adwaith_20221CBC0017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IN" dirty="0" err="1"/>
              <a:t>Shanmugarathinam</a:t>
            </a:r>
            <a:r>
              <a:rPr lang="en-IN" dirty="0"/>
              <a:t> 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Professor,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solidFill>
                  <a:srgbClr val="0070C0"/>
                </a:solidFill>
              </a:rPr>
              <a:t>Dr. </a:t>
            </a:r>
            <a:r>
              <a:rPr lang="en-IN" sz="2000" b="1" dirty="0" err="1">
                <a:solidFill>
                  <a:srgbClr val="0070C0"/>
                </a:solidFill>
              </a:rPr>
              <a:t>Pravinth</a:t>
            </a:r>
            <a:r>
              <a:rPr lang="en-IN" sz="2000" b="1" dirty="0">
                <a:solidFill>
                  <a:srgbClr val="0070C0"/>
                </a:solidFill>
              </a:rPr>
              <a:t> Raja</a:t>
            </a:r>
            <a:endParaRPr lang="en-US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Nisha Robin Rohit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CSE7302 - INTERNSHIP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solidFill>
                  <a:srgbClr val="0070C0"/>
                </a:solidFill>
                <a:latin typeface="Times New Roman"/>
                <a:ea typeface="Tahoma"/>
                <a:cs typeface="Times New Roman"/>
              </a:rPr>
              <a:t>Review-III Presentation </a:t>
            </a:r>
            <a:br>
              <a:rPr lang="en-US" sz="24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/>
                <a:ea typeface="Tahoma"/>
                <a:cs typeface="Times New Roman"/>
              </a:rPr>
              <a:t>CLIENT SUCCESS INTERN</a:t>
            </a:r>
            <a:br>
              <a:rPr lang="en-US" sz="24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1977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ADWAITH SAI KRISHNA PANDA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20221CBC0017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CBC-1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68818" y="902370"/>
            <a:ext cx="10803698" cy="456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70C0"/>
                </a:solidFill>
                <a:latin typeface="Times New Roman"/>
                <a:cs typeface="Times New Roman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Working domain or the technology</a:t>
            </a:r>
            <a:endParaRPr lang="en-US" sz="1200" b="1">
              <a:solidFill>
                <a:schemeClr val="accent1">
                  <a:lumMod val="75000"/>
                </a:schemeClr>
              </a:solidFill>
              <a:latin typeface="Times New Roman"/>
              <a:ea typeface="Cambria" panose="02040503050406030204" pitchFamily="18" charset="0"/>
              <a:cs typeface="Times New Roman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About your team and reporting Manager</a:t>
            </a:r>
            <a:endParaRPr lang="en-US" sz="1200" b="1">
              <a:solidFill>
                <a:schemeClr val="accent1">
                  <a:lumMod val="75000"/>
                </a:schemeClr>
              </a:solidFill>
              <a:latin typeface="Times New Roman"/>
              <a:ea typeface="Cambria" panose="02040503050406030204" pitchFamily="18" charset="0"/>
              <a:cs typeface="Times New Roman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Challenges Faced in Internship</a:t>
            </a:r>
            <a:endParaRPr lang="en-US" sz="1200" b="1">
              <a:solidFill>
                <a:schemeClr val="accent1">
                  <a:lumMod val="75000"/>
                </a:schemeClr>
              </a:solidFill>
              <a:latin typeface="Times New Roman"/>
              <a:ea typeface="Cambria" panose="02040503050406030204" pitchFamily="18" charset="0"/>
              <a:cs typeface="Times New Roman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Proposed System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System Requirements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Advantages of proposed System</a:t>
            </a:r>
            <a:endParaRPr lang="en-IN" sz="1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System Design</a:t>
            </a:r>
            <a:endParaRPr lang="en-IN" sz="1200" b="1" dirty="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System Implementation</a:t>
            </a:r>
            <a:endParaRPr lang="en-IN" sz="1200" b="1" dirty="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200" b="1" dirty="0" err="1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Github</a:t>
            </a: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Link</a:t>
            </a:r>
            <a:endParaRPr lang="en-US" sz="1200" b="1">
              <a:solidFill>
                <a:schemeClr val="accent1">
                  <a:lumMod val="75000"/>
                </a:schemeClr>
              </a:solidFill>
              <a:latin typeface="Times New Roman"/>
              <a:ea typeface="Cambria" panose="02040503050406030204" pitchFamily="18" charset="0"/>
              <a:cs typeface="Times New Roman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Talent Recruit is an advanced Recruitment and Onboarding platform designed to simplify, automate, and enhance the entire hiring lifecycle. It leverages cutting-edge technologies such as Machine Learning and Artificial Intelligence to help organizations attract, screen, evaluate, and hire the right talent efficiently and accurately.</a:t>
            </a:r>
          </a:p>
          <a:p>
            <a:r>
              <a:rPr lang="en-US" dirty="0"/>
              <a:t>One of its key highlights is </a:t>
            </a:r>
            <a:r>
              <a:rPr lang="en-US" b="1" dirty="0"/>
              <a:t>ERIKA – the 24×7 Robotic Recruiter</a:t>
            </a:r>
            <a:r>
              <a:rPr lang="en-US" dirty="0"/>
              <a:t>, which automates candidate engagement, interview scheduling, follow-ups, and communication, ensuring a seamless and responsive recruitment experience for both recruiters and candidates. ERIKA reduces manual effort, improves turnaround time, and enhances candidate satisfaction through continuous availability and intelligent interaction.</a:t>
            </a:r>
          </a:p>
          <a:p>
            <a:r>
              <a:rPr lang="en-US" dirty="0"/>
              <a:t>Talent Recruit enables recruiters to manage job postings, track applications, shortlist candidates, conduct assessments, schedule interviews, and complete onboarding processes within a single integrated platform. Its AI-driven analytics and smart recommendations help recruiters make data-driven hiring decisions, minimize bias, and improve overall hiring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6F16-9B02-D95E-4BBD-3B665E9C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Our Clients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50461-B418-1365-9763-60F3EE20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96359-975F-C84B-EFA2-C1CC2406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403C6B-8DE1-3CCA-D578-3BFCC32EC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025" y="1573698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2114C0D-E5DB-21A5-0FB4-50ABEA461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4162"/>
            <a:ext cx="860844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 for intelligent recruitment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(ML) for resume screening and candidate ranking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 for chatbot and candidate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 Tracking System (ATS)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(Software as a Service) cloud-based platform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 Systems for candidate and job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 for integration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Technology (ERIKA – Robotic Recruiter)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Recruitment Analytics and Reporting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C23148-55A8-9463-AB94-8ED139A9A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3385"/>
            <a:ext cx="951824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Structure, Project, Reporting &amp; Technology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team consists of 9 members, guided by our Reporting Manager,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Mr. Ashish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Meridatta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Currently, we are in the training phase on the company’s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(Applicant Tracking System) product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learning how each technology supports the recruitment process: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Understanding: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ML: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in resume screening and candidate ranking.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chatbot communication and candidate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Workflow: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track candidates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and manage candidate and job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&amp; Analytics: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recruitment performance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training helps us understand how technology solves real recruitment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training, we will be assigned to live projects for practical client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75780F-BEF6-91FC-E465-2EE962D9A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5564" y="1699650"/>
            <a:ext cx="1043940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was selected through my college campus placement process. Clearing the interview with the company’s CCO was a major challenge, as it involved in-depth technical questions, role-based scenarios, and problem-solving assessments. This experience tested my analytical thinking, technical knowledge, and ability to perform under pressure, helping me gain confidence and clarity about industry expectations.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B647B8-9C90-DF8E-070B-AF40CCA91E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1938"/>
            <a:ext cx="88784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ATS system architecture and recruitment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AI-based resume parsing and candidate shortlisting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assist in database validation and candidate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accurate workflow automation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API-based integrations with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recruitment dashboards and system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in identifying and resolving basic system-level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overall system efficiency and data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9B7C-EF75-AC9D-02CF-B94E848C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Proposed System/Work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E496C-3199-5F29-42F9-9C95F4E29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AI-Powered Applicant Tracking System</a:t>
            </a:r>
          </a:p>
          <a:p>
            <a:pPr lvl="1"/>
            <a:r>
              <a:rPr lang="en-US" dirty="0"/>
              <a:t>Automated resume screening and candidate ranking</a:t>
            </a:r>
          </a:p>
          <a:p>
            <a:pPr lvl="1"/>
            <a:r>
              <a:rPr lang="en-US" dirty="0"/>
              <a:t>Chatbot-based candidate engagement (ERIKA)</a:t>
            </a:r>
          </a:p>
          <a:p>
            <a:pPr lvl="1"/>
            <a:r>
              <a:rPr lang="en-US" dirty="0"/>
              <a:t>Centralized recruitment workflow management</a:t>
            </a:r>
            <a:endParaRPr lang="en-IN" dirty="0"/>
          </a:p>
          <a:p>
            <a:pPr lvl="1"/>
            <a:r>
              <a:rPr lang="en-IN" dirty="0"/>
              <a:t>Tailored Analytics and insights customize to specific clients and strategic plans</a:t>
            </a:r>
          </a:p>
          <a:p>
            <a:pPr lvl="1"/>
            <a:r>
              <a:rPr lang="en-IN" dirty="0"/>
              <a:t>Power BI and Tableau integrations as per business plans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14EA3-7386-B476-8A0B-C5527238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CB320-4BD1-2435-7B94-5BDBF146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22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B0F1-C5AC-1DDC-5370-95BF46F0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D2105-2724-FE4A-1A98-7C32D25AB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IN" sz="4400" dirty="0">
                <a:ea typeface="+mn-lt"/>
                <a:cs typeface="+mn-lt"/>
              </a:rPr>
              <a:t>To design and implement an interactive recruitment analytics dashboard using Power BI that transforms cleaned transactional data into meaningful insights through data </a:t>
            </a:r>
            <a:r>
              <a:rPr lang="en-IN" sz="4400" dirty="0" err="1">
                <a:ea typeface="+mn-lt"/>
                <a:cs typeface="+mn-lt"/>
              </a:rPr>
              <a:t>modeling</a:t>
            </a:r>
            <a:r>
              <a:rPr lang="en-IN" sz="4400" dirty="0">
                <a:ea typeface="+mn-lt"/>
                <a:cs typeface="+mn-lt"/>
              </a:rPr>
              <a:t>, DAX-based KPIs, time-based analysis, and recruiter-level performance evaluation to support data-driven decision-making.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8E8A0-8178-A88A-83FE-9BF7A1FC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53F05-65FD-BF4D-BDE3-87888E67C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28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BD94-6E81-3A1A-02F7-0A322299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DD688-6D72-761C-D604-F28FDD35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Web-based ATS platform</a:t>
            </a:r>
          </a:p>
          <a:p>
            <a:pPr lvl="1"/>
            <a:r>
              <a:rPr lang="en-US" dirty="0"/>
              <a:t>Cloud infrastructure</a:t>
            </a:r>
          </a:p>
          <a:p>
            <a:pPr lvl="1"/>
            <a:r>
              <a:rPr lang="en-US" dirty="0"/>
              <a:t>Database for candidate and job data</a:t>
            </a:r>
          </a:p>
          <a:p>
            <a:pPr lvl="1"/>
            <a:r>
              <a:rPr lang="en-US" dirty="0"/>
              <a:t>API integrations with job portals and communication tools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Power BI and Tableau API connectivity</a:t>
            </a:r>
          </a:p>
          <a:p>
            <a:pPr lvl="1"/>
            <a:r>
              <a:rPr lang="en-US" dirty="0"/>
              <a:t>Support for Advanced Analytics via REST APIs enabling real time data synchronization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B40CD-9A36-C2D5-65FE-85B423A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DB1A4-87AE-E380-14DB-53DCE352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302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CBC-1283-2764-14EB-B76CBDD5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System Requirements </a:t>
            </a:r>
            <a:r>
              <a:rPr lang="en-IN" b="1" dirty="0" err="1">
                <a:solidFill>
                  <a:schemeClr val="accent1"/>
                </a:solidFill>
              </a:rPr>
              <a:t>Cont</a:t>
            </a:r>
            <a:r>
              <a:rPr lang="en-IN" b="1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E465-62BA-C645-A560-8E89411CE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Security aspects:</a:t>
            </a:r>
          </a:p>
          <a:p>
            <a:pPr lvl="1"/>
            <a:r>
              <a:rPr lang="en-US" dirty="0"/>
              <a:t>Role based data Access (RBAC)</a:t>
            </a:r>
          </a:p>
          <a:p>
            <a:pPr lvl="1"/>
            <a:r>
              <a:rPr lang="en-US" dirty="0"/>
              <a:t>Securing data Sharing across different clients.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B4D43-DBD7-CE7D-98FB-57B1A06B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5C9E5-0929-55B5-4431-D05BB8DD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201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15F1-B7AF-212F-3833-65093EC4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Advantages of proposed System/Work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00FE-97CD-E6A4-C59D-24E78806A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manual effort in recruitment</a:t>
            </a:r>
          </a:p>
          <a:p>
            <a:pPr lvl="1"/>
            <a:r>
              <a:rPr lang="en-US" dirty="0"/>
              <a:t>Improves hiring accuracy and speed</a:t>
            </a:r>
          </a:p>
          <a:p>
            <a:pPr lvl="1"/>
            <a:r>
              <a:rPr lang="en-US" dirty="0"/>
              <a:t>Enhances candidate experience</a:t>
            </a:r>
          </a:p>
          <a:p>
            <a:pPr lvl="1"/>
            <a:r>
              <a:rPr lang="en-US" dirty="0"/>
              <a:t>Supports data-driven hiring decisions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Data Driven Decision Making</a:t>
            </a:r>
          </a:p>
          <a:p>
            <a:pPr lvl="1"/>
            <a:r>
              <a:rPr lang="en-US" dirty="0"/>
              <a:t>Actionable Insights</a:t>
            </a:r>
          </a:p>
          <a:p>
            <a:pPr lvl="1"/>
            <a:r>
              <a:rPr lang="en-US" dirty="0"/>
              <a:t>Predictive Modeling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0176C-6425-960A-D6F7-06FEA6F28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4285D-CAFE-9C12-98D1-39C73A9F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36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D93F-68E7-4635-0CB8-CA6C5FCA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Advantages of proposed System/Work </a:t>
            </a:r>
            <a:r>
              <a:rPr lang="en-IN" b="1" dirty="0" err="1">
                <a:solidFill>
                  <a:schemeClr val="accent1"/>
                </a:solidFill>
              </a:rPr>
              <a:t>cont</a:t>
            </a:r>
            <a:r>
              <a:rPr lang="en-IN" b="1" dirty="0">
                <a:solidFill>
                  <a:schemeClr val="accent1"/>
                </a:solidFill>
              </a:rPr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24F7E-9591-5860-47ED-42D116E76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Improved Client and Stakeholder Satisfaction</a:t>
            </a:r>
          </a:p>
          <a:p>
            <a:pPr lvl="1"/>
            <a:r>
              <a:rPr lang="en-US" dirty="0"/>
              <a:t>High Fidelity Visuals.</a:t>
            </a:r>
          </a:p>
          <a:p>
            <a:pPr lvl="1"/>
            <a:r>
              <a:rPr lang="en-US" dirty="0"/>
              <a:t>Bespoke Client Reporting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2E44A-25AC-E650-F4DD-11DC820C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59F9F-3BA9-9F4C-63E7-A1ADF2F5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36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3C08-14AB-0D07-3FB7-0E4BAF9C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Working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3F42DC-25A7-9961-A3E5-9234C517F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5506" y="804380"/>
            <a:ext cx="3418820" cy="51186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B1B16-3958-7502-0B5B-6E42C655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D44B4-F7E6-D0FF-E88F-D2ACCC36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826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D5E4-37A4-E0A6-8FF1-F2A695B3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Overview – Power BI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971B9-BD63-A881-B89B-DD69B9A9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A1812-2A5B-3246-F11F-291BC08A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D0A87D-1178-0407-87CE-20959CB9B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2804" y="1723198"/>
            <a:ext cx="10300996" cy="3483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Objective</a:t>
            </a:r>
            <a:br>
              <a:rPr lang="en-US" sz="1800" dirty="0"/>
            </a:br>
            <a:r>
              <a:rPr lang="en-US" sz="1800" dirty="0"/>
              <a:t>To prepare raw sales data for analysis using Power BI by performing initial data cleaning and transformation.</a:t>
            </a:r>
          </a:p>
          <a:p>
            <a:r>
              <a:rPr lang="en-US" sz="1800" b="1" dirty="0"/>
              <a:t>Tools Used</a:t>
            </a:r>
            <a:endParaRPr lang="en-US" sz="1800" dirty="0"/>
          </a:p>
          <a:p>
            <a:r>
              <a:rPr lang="en-US" sz="1800" dirty="0"/>
              <a:t>Power BI Desktop</a:t>
            </a:r>
          </a:p>
          <a:p>
            <a:r>
              <a:rPr lang="en-US" sz="1800" dirty="0"/>
              <a:t>Power Query Editor</a:t>
            </a:r>
          </a:p>
          <a:p>
            <a:r>
              <a:rPr lang="en-US" sz="1800" b="1" dirty="0"/>
              <a:t>Work Performed</a:t>
            </a:r>
            <a:endParaRPr lang="en-US" sz="1800" dirty="0"/>
          </a:p>
          <a:p>
            <a:r>
              <a:rPr lang="en-US" sz="1800" dirty="0"/>
              <a:t>Imported a structured Excel dataset into Power BI</a:t>
            </a:r>
          </a:p>
          <a:p>
            <a:r>
              <a:rPr lang="en-US" sz="1800" dirty="0"/>
              <a:t>Accessed </a:t>
            </a:r>
            <a:r>
              <a:rPr lang="en-US" sz="1800" b="1" dirty="0"/>
              <a:t>Power Query Editor</a:t>
            </a:r>
            <a:r>
              <a:rPr lang="en-US" sz="1800" dirty="0"/>
              <a:t> to perform data preparation</a:t>
            </a:r>
          </a:p>
          <a:p>
            <a:r>
              <a:rPr lang="en-US" sz="1800" dirty="0"/>
              <a:t>Reviewed dataset structure and column consistency</a:t>
            </a:r>
          </a:p>
        </p:txBody>
      </p:sp>
    </p:spTree>
    <p:extLst>
      <p:ext uri="{BB962C8B-B14F-4D97-AF65-F5344CB8AC3E}">
        <p14:creationId xmlns:p14="http://schemas.microsoft.com/office/powerpoint/2010/main" val="2931416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5D3E-461B-06EE-A598-AA6360FD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B0F0"/>
                </a:solidFill>
                <a:ea typeface="+mj-lt"/>
                <a:cs typeface="+mj-lt"/>
              </a:rPr>
              <a:t>Data Modeling Implementation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4FA6-42C4-3804-8703-2029D32F3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Created a separate </a:t>
            </a:r>
            <a:r>
              <a:rPr lang="en-US" b="1">
                <a:ea typeface="+mn-lt"/>
                <a:cs typeface="+mn-lt"/>
              </a:rPr>
              <a:t>Date Dimension table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Established proper </a:t>
            </a:r>
            <a:r>
              <a:rPr lang="en-US" b="1">
                <a:ea typeface="+mn-lt"/>
                <a:cs typeface="+mn-lt"/>
              </a:rPr>
              <a:t>Many-to-One relationship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Implemented structured BI data modeling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Enabled accurate time-based analytics</a:t>
            </a:r>
            <a:endParaRPr lang="en-US" dirty="0"/>
          </a:p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C182E-9600-273A-5240-CDB8817D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A2A4A-3C8D-CFDF-C57D-2500D161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787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095A-CF48-1E60-E92C-EAD3F377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KPI Development (DAX Measures)</a:t>
            </a:r>
            <a:endParaRPr lang="en-US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C1E7-5150-DDF2-CAEF-13D90A7A5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Developed key performance indicators using DAX: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Total Revenue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Total Hires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Offer Acceptance Rate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Average Time to Hire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Revenue per Hire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Recruiter-level performance metrics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24D6-1A46-CD87-A0BD-6197C94A1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E3826-8C8C-E66C-FB1C-5CE3CC31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016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AF90-E580-3167-42A5-3DE2D52E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Dashboard &amp; Visual Analytics</a:t>
            </a:r>
            <a:endParaRPr lang="en-US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016F9-CD41-5208-BE84-2BF3EC249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Built an interactive recruitment analytics dashboard including: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Hiring trend analysis (time-based)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Revenue by region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Department-wise hiring performance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Recruiter performance comparison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Recruitment pipeline (Funnel analysis)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E1860-1F9B-2A2B-4CEA-C4BD4740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5428F-D941-C54D-9DB3-F5828394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519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2A95-F204-8089-69B2-D560371F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Advanced Features Implemented</a:t>
            </a:r>
            <a:endParaRPr lang="en-US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79C1A-BE8B-E010-183F-AB5213E6B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b="1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Implemented </a:t>
            </a:r>
            <a:r>
              <a:rPr lang="en-US" b="1">
                <a:ea typeface="+mn-lt"/>
                <a:cs typeface="+mn-lt"/>
              </a:rPr>
              <a:t>Slicers</a:t>
            </a:r>
            <a:r>
              <a:rPr lang="en-US">
                <a:ea typeface="+mn-lt"/>
                <a:cs typeface="+mn-lt"/>
              </a:rPr>
              <a:t> for dynamic filtering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Created </a:t>
            </a:r>
            <a:r>
              <a:rPr lang="en-US" b="1">
                <a:ea typeface="+mn-lt"/>
                <a:cs typeface="+mn-lt"/>
              </a:rPr>
              <a:t>Drill-through page</a:t>
            </a:r>
            <a:r>
              <a:rPr lang="en-US">
                <a:ea typeface="+mn-lt"/>
                <a:cs typeface="+mn-lt"/>
              </a:rPr>
              <a:t> for recruiter-level analysis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Enabled interactive, multi-dimensional reporting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Designed executive-style KPI summary layout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BCB4D-7661-7749-775D-49ADACA56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9872C-D65D-1FC1-A49F-EE95738B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746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7ECD3-6169-9409-A209-CD0F9EA5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Learning Outcome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FDA6B-5BF9-0029-C78C-A339F706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1F403-960C-C15C-2B7E-B4698F93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0462EE2-C873-14AB-5E25-7A2DD0AFD8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3255"/>
            <a:ext cx="10097278" cy="1851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ea typeface="+mn-lt"/>
                <a:cs typeface="+mn-lt"/>
              </a:rPr>
              <a:t>Converted raw data into business insights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Applied BI lifecycle concepts in practice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Demonstrated DAX, modeling, and visualization skills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Built a professional recruitment analytics solution</a:t>
            </a:r>
            <a:endParaRPr lang="en-US"/>
          </a:p>
          <a:p>
            <a:endParaRPr lang="en-US" sz="18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7496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BA0D-D281-4B5F-CB58-6C35A6B4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4A719-8B07-34FA-4304-6553057F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FAA51-7F2A-5188-E8D9-53A80325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  <p:pic>
        <p:nvPicPr>
          <p:cNvPr id="3075" name="Picture 3" descr="Introduction to Dataflows and Self-service Data Prep - Power BI | Microsoft  Learn">
            <a:extLst>
              <a:ext uri="{FF2B5EF4-FFF2-40B4-BE49-F238E27FC236}">
                <a16:creationId xmlns:a16="http://schemas.microsoft.com/office/drawing/2014/main" id="{E99CB59C-BBC8-B097-79D7-58C43DF5DC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13" y="1418254"/>
            <a:ext cx="3714735" cy="229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ETL In PowerBI(Part — 2):. Power Query Editors, a powerful feature ...">
            <a:extLst>
              <a:ext uri="{FF2B5EF4-FFF2-40B4-BE49-F238E27FC236}">
                <a16:creationId xmlns:a16="http://schemas.microsoft.com/office/drawing/2014/main" id="{F37D7309-B0DA-BE4A-FC85-5A4B59A7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347" y="1352743"/>
            <a:ext cx="6911219" cy="229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7" descr="Power BI usage scenarios: Self-service data preparation ...">
            <a:extLst>
              <a:ext uri="{FF2B5EF4-FFF2-40B4-BE49-F238E27FC236}">
                <a16:creationId xmlns:a16="http://schemas.microsoft.com/office/drawing/2014/main" id="{6A3E7C50-1B25-D3BF-CDE4-B3732C1A74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502229" cy="150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9" descr="Power BI usage scenarios: Self-service data preparation ...">
            <a:extLst>
              <a:ext uri="{FF2B5EF4-FFF2-40B4-BE49-F238E27FC236}">
                <a16:creationId xmlns:a16="http://schemas.microsoft.com/office/drawing/2014/main" id="{C0B82D2E-4991-2252-3FC3-0F54F2B51A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348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C0D-C30E-F713-EE74-801542B0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5A265-8C94-ADB4-CB45-6ACB3C57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5A21C-6360-B3C6-6371-C6A12DB9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7EF225-1972-4353-2A26-81DFF0130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4224" y="3047838"/>
            <a:ext cx="101719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58BD57-5F8C-87A9-F07A-8EEC368E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919" y="1851770"/>
            <a:ext cx="5191829" cy="3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8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3518-EBD9-C2FB-7A3D-CA86DE36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Visualization and Deployment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04DB3-A523-0199-EEFD-192EC8D52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83109-DDC8-58DA-62D1-36D63901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0961557-BBD9-223D-DC2D-D9643431AA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6232" y="2129662"/>
            <a:ext cx="100412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and reports are created for business users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Reports and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 Interactive 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are published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496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63DE-B134-780F-6D63-35D3F1E0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Advanced Analytics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563793-5B3E-F9F1-CBAC-0775A6D10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405" y="1253331"/>
            <a:ext cx="1049022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AE2CF-D8FD-A92A-C698-BC72AA46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81499-2ADD-1ABB-B983-D8ABE8D6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881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0F9C-42CF-95F2-ED59-85EFB3E9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  <a:ea typeface="Calibri Light"/>
                <a:cs typeface="Calibri Light"/>
              </a:rPr>
              <a:t>System Design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90BD28-0065-65A9-2C23-B5F85362C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567" y="1387214"/>
            <a:ext cx="811826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75383-D16A-2DE9-D69D-0F3A5B2F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54161-57A7-D627-5501-FE659C81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993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636AB-E03D-9F93-0CFE-7976DDB8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66751" cy="2086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  <a:ea typeface="Calibri Light"/>
                <a:cs typeface="Calibri Light"/>
              </a:rPr>
              <a:t>System </a:t>
            </a:r>
            <a:r>
              <a:rPr lang="en-US" b="1">
                <a:solidFill>
                  <a:schemeClr val="accent1"/>
                </a:solidFill>
                <a:ea typeface="Calibri Light"/>
                <a:cs typeface="Calibri Light"/>
              </a:rPr>
              <a:t>Implementation</a:t>
            </a:r>
            <a:endParaRPr lang="en-US" b="1" dirty="0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A440C-35DC-988B-7F2A-1E9DFD962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460" y="896611"/>
            <a:ext cx="5484312" cy="581270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3600"/>
              <a:t>Backend Layer</a:t>
            </a:r>
            <a:endParaRPr lang="en-US" sz="36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Developed using </a:t>
            </a:r>
            <a:r>
              <a:rPr lang="en-US" sz="3600" b="1">
                <a:ea typeface="+mn-lt"/>
                <a:cs typeface="+mn-lt"/>
              </a:rPr>
              <a:t>Node.js, C++, and Python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Microservices-based architecture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Databases: </a:t>
            </a:r>
            <a:r>
              <a:rPr lang="en-US" sz="3600" b="1">
                <a:ea typeface="+mn-lt"/>
                <a:cs typeface="+mn-lt"/>
              </a:rPr>
              <a:t>MongoDB, MySQL, Elasticsearch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REST APIs for system communication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 dirty="0"/>
            </a:br>
            <a:endParaRPr lang="en-US" sz="3600" dirty="0">
              <a:ea typeface="Calibri"/>
              <a:cs typeface="Calibri"/>
            </a:endParaRPr>
          </a:p>
          <a:p>
            <a:r>
              <a:rPr lang="en-US" sz="3600"/>
              <a:t>Cloud &amp; Infrastructure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Hosted on </a:t>
            </a:r>
            <a:r>
              <a:rPr lang="en-US" sz="3600" b="1">
                <a:ea typeface="+mn-lt"/>
                <a:cs typeface="+mn-lt"/>
              </a:rPr>
              <a:t>AWS (EC2, S3, VPC)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Containerized using </a:t>
            </a:r>
            <a:r>
              <a:rPr lang="en-US" sz="3600" b="1">
                <a:ea typeface="+mn-lt"/>
                <a:cs typeface="+mn-lt"/>
              </a:rPr>
              <a:t>Docker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Orchestrated via </a:t>
            </a:r>
            <a:r>
              <a:rPr lang="en-US" sz="3600" b="1">
                <a:ea typeface="+mn-lt"/>
                <a:cs typeface="+mn-lt"/>
              </a:rPr>
              <a:t>EKS/ECS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Monitoring with </a:t>
            </a:r>
            <a:r>
              <a:rPr lang="en-US" sz="3600" b="1">
                <a:ea typeface="+mn-lt"/>
                <a:cs typeface="+mn-lt"/>
              </a:rPr>
              <a:t>Grafana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600">
                <a:ea typeface="+mn-lt"/>
                <a:cs typeface="+mn-lt"/>
              </a:rPr>
              <a:t>Automation using </a:t>
            </a:r>
            <a:r>
              <a:rPr lang="en-US" sz="3600" b="1">
                <a:ea typeface="+mn-lt"/>
                <a:cs typeface="+mn-lt"/>
              </a:rPr>
              <a:t>Jenkins &amp; Ansible</a:t>
            </a: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 dirty="0"/>
            </a:br>
            <a:endParaRPr lang="en-US" sz="3600" dirty="0"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 dirty="0"/>
            </a:br>
            <a:endParaRPr lang="en-US" sz="3600" dirty="0">
              <a:ea typeface="Calibri"/>
              <a:cs typeface="Calibri"/>
            </a:endParaRPr>
          </a:p>
          <a:p>
            <a:endParaRPr lang="en-US" sz="36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B5FAD-954A-E11F-BF73-1B1AC393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D9B7D-AA14-156E-65ED-9857D319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752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AD42B-00AA-DEB5-9522-F03F3569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56943" cy="36523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/>
                </a:solidFill>
                <a:ea typeface="Calibri Light"/>
                <a:cs typeface="Calibri Light"/>
              </a:rPr>
              <a:t>System Implementation</a:t>
            </a:r>
          </a:p>
          <a:p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B6F6-6976-1FB7-6AF1-57D8F1F5E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926" y="541707"/>
            <a:ext cx="5432117" cy="580226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600">
                <a:ea typeface="Calibri"/>
                <a:cs typeface="Calibri"/>
              </a:rPr>
              <a:t>Middleware &amp; Messaging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b="1">
                <a:ea typeface="Calibri"/>
                <a:cs typeface="Calibri"/>
              </a:rPr>
              <a:t>Kafka &amp; SQS</a:t>
            </a:r>
            <a:r>
              <a:rPr lang="en-US" sz="1600">
                <a:ea typeface="Calibri"/>
                <a:cs typeface="Calibri"/>
              </a:rPr>
              <a:t> for asynchronous communication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b="1">
                <a:ea typeface="Calibri"/>
                <a:cs typeface="Calibri"/>
              </a:rPr>
              <a:t>Redis</a:t>
            </a:r>
            <a:r>
              <a:rPr lang="en-US" sz="1600">
                <a:ea typeface="Calibri"/>
                <a:cs typeface="Calibri"/>
              </a:rPr>
              <a:t> for caching and performance optimization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 sz="700" dirty="0">
                <a:ea typeface="Calibri"/>
                <a:cs typeface="Calibri"/>
              </a:rPr>
            </a:br>
            <a:endParaRPr lang="en-US" sz="1600" dirty="0">
              <a:ea typeface="Calibri"/>
              <a:cs typeface="Calibri"/>
            </a:endParaRPr>
          </a:p>
          <a:p>
            <a:r>
              <a:rPr lang="en-US" sz="1600">
                <a:ea typeface="Calibri"/>
                <a:cs typeface="Calibri"/>
              </a:rPr>
              <a:t> Frontend &amp; Reporting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ea typeface="Calibri"/>
                <a:cs typeface="Calibri"/>
              </a:rPr>
              <a:t>UI built with </a:t>
            </a:r>
            <a:r>
              <a:rPr lang="en-US" sz="1600" b="1">
                <a:ea typeface="Calibri"/>
                <a:cs typeface="Calibri"/>
              </a:rPr>
              <a:t>Angular &amp; Redux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ea typeface="Calibri"/>
                <a:cs typeface="Calibri"/>
              </a:rPr>
              <a:t>Dashboards &amp; Reporting through </a:t>
            </a:r>
            <a:r>
              <a:rPr lang="en-US" sz="1600" b="1">
                <a:ea typeface="Calibri"/>
                <a:cs typeface="Calibri"/>
              </a:rPr>
              <a:t>Power BI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ea typeface="Calibri"/>
                <a:cs typeface="Calibri"/>
              </a:rPr>
              <a:t>Supports intelligent, data-driven applications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 sz="700" dirty="0">
                <a:ea typeface="Calibri"/>
                <a:cs typeface="Calibri"/>
              </a:rPr>
            </a:br>
            <a:endParaRPr lang="en-US" sz="1600" dirty="0">
              <a:ea typeface="Calibri"/>
              <a:cs typeface="Calibri"/>
            </a:endParaRPr>
          </a:p>
          <a:p>
            <a:r>
              <a:rPr lang="en-US" sz="1600">
                <a:ea typeface="Calibri"/>
                <a:cs typeface="Calibri"/>
              </a:rPr>
              <a:t> Security &amp; Reliability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b="1">
                <a:ea typeface="Calibri"/>
                <a:cs typeface="Calibri"/>
              </a:rPr>
              <a:t>IAM, WAF, Encryption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ea typeface="Calibri"/>
                <a:cs typeface="Calibri"/>
              </a:rPr>
              <a:t>Load balancing &amp; redundancy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ea typeface="Calibri"/>
                <a:cs typeface="Calibri"/>
              </a:rPr>
              <a:t>Backup &amp; replication for high availability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r>
              <a:rPr lang="en-US" sz="1600">
                <a:ea typeface="Calibri"/>
                <a:cs typeface="Calibri"/>
              </a:rPr>
              <a:t> AI &amp; Processing Layer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ea typeface="Calibri"/>
                <a:cs typeface="Calibri"/>
              </a:rPr>
              <a:t>Model training using </a:t>
            </a:r>
            <a:r>
              <a:rPr lang="en-US" sz="1600" b="1">
                <a:ea typeface="Calibri"/>
                <a:cs typeface="Calibri"/>
              </a:rPr>
              <a:t>Amazon SageMaker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dirty="0">
                <a:ea typeface="Calibri"/>
                <a:cs typeface="Calibri"/>
              </a:rPr>
              <a:t>NLP processing using </a:t>
            </a:r>
            <a:r>
              <a:rPr lang="en-US" sz="1600" b="1" dirty="0" err="1">
                <a:ea typeface="Calibri"/>
                <a:cs typeface="Calibri"/>
              </a:rPr>
              <a:t>SpaCy</a:t>
            </a:r>
            <a:endParaRPr lang="en-US" sz="1600" dirty="0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ea typeface="Calibri"/>
                <a:cs typeface="Calibri"/>
              </a:rPr>
              <a:t>Data models for intelligent insights</a:t>
            </a:r>
            <a:endParaRPr lang="en-US" sz="1600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6DA52-EDB6-F6C4-4F78-3A683102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173CE-9CFC-5756-4718-4D625599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312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72269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hlinkClick r:id="rId2"/>
              </a:rPr>
              <a:t>https://github.com/Jann-2004/Internship-Work-Adwaith_20221CBC0017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7611</TotalTime>
  <Words>1165</Words>
  <Application>Microsoft Office PowerPoint</Application>
  <PresentationFormat>Widescreen</PresentationFormat>
  <Paragraphs>198</Paragraphs>
  <Slides>32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Content</vt:lpstr>
      <vt:lpstr>About Company or Organization</vt:lpstr>
      <vt:lpstr>Our Clients</vt:lpstr>
      <vt:lpstr>Working domain or the technology</vt:lpstr>
      <vt:lpstr>About your team and reporting Manager</vt:lpstr>
      <vt:lpstr>Challenges Faced in Internship</vt:lpstr>
      <vt:lpstr>Objectives of the work</vt:lpstr>
      <vt:lpstr>Proposed System/Work</vt:lpstr>
      <vt:lpstr>Problem Statement</vt:lpstr>
      <vt:lpstr>System Requirements</vt:lpstr>
      <vt:lpstr>System Requirements Cont…</vt:lpstr>
      <vt:lpstr>Advantages of proposed System/Work</vt:lpstr>
      <vt:lpstr>Advantages of proposed System/Work cont…</vt:lpstr>
      <vt:lpstr>Working Process</vt:lpstr>
      <vt:lpstr>Overview – Power BI</vt:lpstr>
      <vt:lpstr>Data Modeling Implementation</vt:lpstr>
      <vt:lpstr>KPI Development (DAX Measures)</vt:lpstr>
      <vt:lpstr>Dashboard &amp; Visual Analytics</vt:lpstr>
      <vt:lpstr>Advanced Features Implemented</vt:lpstr>
      <vt:lpstr>Learning Outcome</vt:lpstr>
      <vt:lpstr>Architecture</vt:lpstr>
      <vt:lpstr>PowerPoint Presentation</vt:lpstr>
      <vt:lpstr>Visualization and Deployment </vt:lpstr>
      <vt:lpstr>Advanced Analytics</vt:lpstr>
      <vt:lpstr>System Design</vt:lpstr>
      <vt:lpstr>System Implementation</vt:lpstr>
      <vt:lpstr>System Implementation 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ADWAITH SAI KRISHNA PANDA</cp:lastModifiedBy>
  <cp:revision>821</cp:revision>
  <dcterms:created xsi:type="dcterms:W3CDTF">2022-10-14T07:18:17Z</dcterms:created>
  <dcterms:modified xsi:type="dcterms:W3CDTF">2026-02-27T15:25:44Z</dcterms:modified>
</cp:coreProperties>
</file>